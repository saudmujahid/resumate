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Alatsi"/>
      <p:regular r:id="rId15"/>
    </p:embeddedFont>
    <p:embeddedFont>
      <p:font typeface="Open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atsi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fb1fc49d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9fb1fc49d8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fb1fc49d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9fb1fc49d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e8ef3c01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1e8ef3c01_2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fb1fc49d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fb1fc49d8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479437e4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479437e4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479437e4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479437e4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479437e4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479437e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31071" y="-180826"/>
            <a:ext cx="4239084" cy="10467826"/>
            <a:chOff x="0" y="-241102"/>
            <a:chExt cx="5652112" cy="13957102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2826056" y="-241102"/>
              <a:ext cx="2826056" cy="13957102"/>
              <a:chOff x="0" y="-47625"/>
              <a:chExt cx="558233" cy="2756958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rect b="b" l="l" r="r" t="t"/>
                <a:pathLst>
                  <a:path extrusionOk="0"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  <a:ln>
                <a:noFill/>
              </a:ln>
            </p:spPr>
          </p:sp>
          <p:sp>
            <p:nvSpPr>
              <p:cNvPr id="87" name="Google Shape;87;p13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" name="Google Shape;88;p13"/>
            <p:cNvGrpSpPr/>
            <p:nvPr/>
          </p:nvGrpSpPr>
          <p:grpSpPr>
            <a:xfrm>
              <a:off x="1413028" y="-241102"/>
              <a:ext cx="2826056" cy="13957102"/>
              <a:chOff x="0" y="-47625"/>
              <a:chExt cx="558233" cy="2756958"/>
            </a:xfrm>
          </p:grpSpPr>
          <p:sp>
            <p:nvSpPr>
              <p:cNvPr id="89" name="Google Shape;89;p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rect b="b" l="l" r="r" t="t"/>
                <a:pathLst>
                  <a:path extrusionOk="0"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</p:sp>
          <p:sp>
            <p:nvSpPr>
              <p:cNvPr id="90" name="Google Shape;90;p13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13"/>
            <p:cNvGrpSpPr/>
            <p:nvPr/>
          </p:nvGrpSpPr>
          <p:grpSpPr>
            <a:xfrm>
              <a:off x="0" y="-241102"/>
              <a:ext cx="2826056" cy="13957102"/>
              <a:chOff x="0" y="-47625"/>
              <a:chExt cx="558233" cy="2756958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rect b="b" l="l" r="r" t="t"/>
                <a:pathLst>
                  <a:path extrusionOk="0"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  <a:ln>
                <a:noFill/>
              </a:ln>
            </p:spPr>
          </p:sp>
          <p:sp>
            <p:nvSpPr>
              <p:cNvPr id="93" name="Google Shape;93;p13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" name="Google Shape;94;p13"/>
          <p:cNvSpPr txBox="1"/>
          <p:nvPr/>
        </p:nvSpPr>
        <p:spPr>
          <a:xfrm>
            <a:off x="5889300" y="69600"/>
            <a:ext cx="9056100" cy="6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latin typeface="Alatsi"/>
                <a:ea typeface="Alatsi"/>
                <a:cs typeface="Alatsi"/>
                <a:sym typeface="Alatsi"/>
              </a:rPr>
              <a:t>Resumate</a:t>
            </a:r>
            <a:endParaRPr sz="15000">
              <a:latin typeface="Alatsi"/>
              <a:ea typeface="Alatsi"/>
              <a:cs typeface="Alatsi"/>
              <a:sym typeface="Alatsi"/>
            </a:endParaRPr>
          </a:p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>
                <a:latin typeface="Alatsi"/>
                <a:ea typeface="Alatsi"/>
                <a:cs typeface="Alatsi"/>
                <a:sym typeface="Alatsi"/>
              </a:rPr>
              <a:t>Week-5 Group-7</a:t>
            </a:r>
            <a:endParaRPr sz="15000"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2646898" y="-210192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3"/>
          <p:cNvSpPr txBox="1"/>
          <p:nvPr/>
        </p:nvSpPr>
        <p:spPr>
          <a:xfrm>
            <a:off x="4618712" y="6865189"/>
            <a:ext cx="1262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Alatsi"/>
                <a:ea typeface="Alatsi"/>
                <a:cs typeface="Alatsi"/>
                <a:sym typeface="Alatsi"/>
              </a:rPr>
              <a:t>Saud| Anika| S</a:t>
            </a:r>
            <a:r>
              <a:rPr b="1" lang="en-US" sz="4800">
                <a:latin typeface="Alatsi"/>
                <a:ea typeface="Alatsi"/>
                <a:cs typeface="Alatsi"/>
                <a:sym typeface="Alatsi"/>
              </a:rPr>
              <a:t>akia | Rima</a:t>
            </a:r>
            <a:endParaRPr sz="4800"/>
          </a:p>
        </p:txBody>
      </p:sp>
      <p:sp>
        <p:nvSpPr>
          <p:cNvPr id="97" name="Google Shape;97;p13"/>
          <p:cNvSpPr txBox="1"/>
          <p:nvPr/>
        </p:nvSpPr>
        <p:spPr>
          <a:xfrm>
            <a:off x="6477000" y="9313070"/>
            <a:ext cx="6882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26" u="none" cap="none" strike="noStrik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North South University | 202</a:t>
            </a:r>
            <a:r>
              <a:rPr b="1" lang="en-US" sz="3126">
                <a:latin typeface="Alatsi"/>
                <a:ea typeface="Alatsi"/>
                <a:cs typeface="Alatsi"/>
                <a:sym typeface="Alatsi"/>
              </a:rPr>
              <a:t>5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1118095" y="9258300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4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API creation</a:t>
            </a:r>
            <a:endParaRPr/>
          </a:p>
        </p:txBody>
      </p:sp>
      <p:grpSp>
        <p:nvGrpSpPr>
          <p:cNvPr id="105" name="Google Shape;105;p14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06" name="Google Shape;106;p14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07" name="Google Shape;107;p14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4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14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10" name="Google Shape;110;p14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1" name="Google Shape;111;p14" title="Screenshot from 2025-11-10 12.14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313" y="2314098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5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Templates update</a:t>
            </a:r>
            <a:endParaRPr/>
          </a:p>
        </p:txBody>
      </p:sp>
      <p:grpSp>
        <p:nvGrpSpPr>
          <p:cNvPr id="118" name="Google Shape;118;p15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19" name="Google Shape;119;p15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20" name="Google Shape;120;p1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5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" name="Google Shape;122;p15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23" name="Google Shape;123;p15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4" name="Google Shape;124;p15" title="Screenshot from 2025-11-10 12.02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4500" y="2452648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6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Resumate</a:t>
            </a: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32" name="Google Shape;132;p16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33" name="Google Shape;133;p1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5" name="Google Shape;135;p16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36" name="Google Shape;136;p16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6"/>
          <p:cNvSpPr txBox="1"/>
          <p:nvPr/>
        </p:nvSpPr>
        <p:spPr>
          <a:xfrm>
            <a:off x="1631125" y="2522825"/>
            <a:ext cx="15658800" cy="6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Focus on Simplicity and Transparency</a:t>
            </a:r>
            <a:r>
              <a:rPr lang="en-US" sz="1800">
                <a:solidFill>
                  <a:schemeClr val="dk1"/>
                </a:solidFill>
              </a:rPr>
              <a:t>: Resumate prioritizes an intuitive, minimal interface dedicated solely to resume creation.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Free Essential Features</a:t>
            </a:r>
            <a:r>
              <a:rPr lang="en-US" sz="1800">
                <a:solidFill>
                  <a:schemeClr val="dk1"/>
                </a:solidFill>
              </a:rPr>
              <a:t>: Core functions like AI text generation, editing, and PDF export will remain free and accessible, especially for students and early-career users.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No Unnecessary Distractions</a:t>
            </a:r>
            <a:r>
              <a:rPr lang="en-US" sz="1800">
                <a:solidFill>
                  <a:schemeClr val="dk1"/>
                </a:solidFill>
              </a:rPr>
              <a:t>: Unlike other platforms, Resumate avoids job tracking or unrelated integrations, keeping the user experience focused.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Peer &amp; Recruiter Feedback Loop</a:t>
            </a:r>
            <a:r>
              <a:rPr lang="en-US" sz="1800">
                <a:solidFill>
                  <a:schemeClr val="dk1"/>
                </a:solidFill>
              </a:rPr>
              <a:t>: Integrates a machine learning-powered feedback system, gathering insights from real-world hiring data.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ATS-Friendly and Visually Appealing</a:t>
            </a:r>
            <a:r>
              <a:rPr lang="en-US" sz="1800">
                <a:solidFill>
                  <a:schemeClr val="dk1"/>
                </a:solidFill>
              </a:rPr>
              <a:t>: Helps users create resumes that are both ATS-optimized and visually attractive.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Actionable Insights</a:t>
            </a:r>
            <a:r>
              <a:rPr lang="en-US" sz="1800">
                <a:solidFill>
                  <a:schemeClr val="dk1"/>
                </a:solidFill>
              </a:rPr>
              <a:t>: Provides meaningful feedback on how to improve resumes, beyond just formatting and keywords.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Affordable &amp; Personalized</a:t>
            </a:r>
            <a:r>
              <a:rPr lang="en-US" sz="1800">
                <a:solidFill>
                  <a:schemeClr val="dk1"/>
                </a:solidFill>
              </a:rPr>
              <a:t>: Aims to address the gaps in usability, affordability, and personalization seen in existing AI resume builders.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Community-Driven Evaluation</a:t>
            </a:r>
            <a:r>
              <a:rPr lang="en-US" sz="1800">
                <a:solidFill>
                  <a:schemeClr val="dk1"/>
                </a:solidFill>
              </a:rPr>
              <a:t>: Incorporates real-world feedback to make resume creation more effective and approachable for users at all career stages.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2600">
                <a:solidFill>
                  <a:schemeClr val="dk1"/>
                </a:solidFill>
              </a:rPr>
            </a:b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13764167" y="620819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7"/>
          <p:cNvSpPr txBox="1"/>
          <p:nvPr/>
        </p:nvSpPr>
        <p:spPr>
          <a:xfrm>
            <a:off x="2553980" y="736300"/>
            <a:ext cx="13179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99">
                <a:latin typeface="Alatsi"/>
                <a:ea typeface="Alatsi"/>
                <a:cs typeface="Alatsi"/>
                <a:sym typeface="Alatsi"/>
              </a:rPr>
              <a:t>Figma</a:t>
            </a:r>
            <a:endParaRPr/>
          </a:p>
        </p:txBody>
      </p:sp>
      <p:grpSp>
        <p:nvGrpSpPr>
          <p:cNvPr id="144" name="Google Shape;144;p17"/>
          <p:cNvGrpSpPr/>
          <p:nvPr/>
        </p:nvGrpSpPr>
        <p:grpSpPr>
          <a:xfrm>
            <a:off x="15859155" y="-98041"/>
            <a:ext cx="1562625" cy="1771271"/>
            <a:chOff x="0" y="-130721"/>
            <a:chExt cx="2083500" cy="2361695"/>
          </a:xfrm>
        </p:grpSpPr>
        <p:grpSp>
          <p:nvGrpSpPr>
            <p:cNvPr id="145" name="Google Shape;145;p17"/>
            <p:cNvGrpSpPr/>
            <p:nvPr/>
          </p:nvGrpSpPr>
          <p:grpSpPr>
            <a:xfrm>
              <a:off x="75599" y="-130721"/>
              <a:ext cx="1932614" cy="2361695"/>
              <a:chOff x="0" y="-47625"/>
              <a:chExt cx="704100" cy="860425"/>
            </a:xfrm>
          </p:grpSpPr>
          <p:sp>
            <p:nvSpPr>
              <p:cNvPr id="146" name="Google Shape;146;p1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rect b="b" l="l" r="r" t="t"/>
                <a:pathLst>
                  <a:path extrusionOk="0"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 txBox="1"/>
              <p:nvPr/>
            </p:nvSpPr>
            <p:spPr>
              <a:xfrm>
                <a:off x="0" y="-47625"/>
                <a:ext cx="704100" cy="7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" name="Google Shape;148;p17"/>
            <p:cNvSpPr txBox="1"/>
            <p:nvPr/>
          </p:nvSpPr>
          <p:spPr>
            <a:xfrm>
              <a:off x="0" y="437582"/>
              <a:ext cx="2083500" cy="11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5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149" name="Google Shape;149;p17"/>
          <p:cNvSpPr/>
          <p:nvPr/>
        </p:nvSpPr>
        <p:spPr>
          <a:xfrm>
            <a:off x="-2627572" y="-733336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0" name="Google Shape;150;p17" title="Screenshot from 2025-11-03 12.08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313" y="2323623"/>
            <a:ext cx="13459368" cy="757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title="Screenshot from 2025-11-15 18.20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7746133" cy="9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title="Screenshot from 2025-11-15 18.20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7746133" cy="9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title="Screenshot from 2025-11-17 11.13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7746133" cy="9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B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1028700" y="4213600"/>
            <a:ext cx="162306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>
                <a:latin typeface="Alatsi"/>
                <a:ea typeface="Alatsi"/>
                <a:cs typeface="Alatsi"/>
                <a:sym typeface="Alatsi"/>
              </a:rPr>
              <a:t>Thank You</a:t>
            </a:r>
            <a:endParaRPr/>
          </a:p>
        </p:txBody>
      </p:sp>
      <p:grpSp>
        <p:nvGrpSpPr>
          <p:cNvPr id="171" name="Google Shape;171;p21"/>
          <p:cNvGrpSpPr/>
          <p:nvPr/>
        </p:nvGrpSpPr>
        <p:grpSpPr>
          <a:xfrm>
            <a:off x="627362" y="-144661"/>
            <a:ext cx="937061" cy="10431661"/>
            <a:chOff x="0" y="-38100"/>
            <a:chExt cx="246798" cy="2747433"/>
          </a:xfrm>
        </p:grpSpPr>
        <p:sp>
          <p:nvSpPr>
            <p:cNvPr id="172" name="Google Shape;172;p21"/>
            <p:cNvSpPr/>
            <p:nvPr/>
          </p:nvSpPr>
          <p:spPr>
            <a:xfrm>
              <a:off x="0" y="0"/>
              <a:ext cx="246798" cy="2709333"/>
            </a:xfrm>
            <a:custGeom>
              <a:rect b="b" l="l" r="r" t="t"/>
              <a:pathLst>
                <a:path extrusionOk="0"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  <a:ln>
              <a:noFill/>
            </a:ln>
          </p:spPr>
        </p:sp>
        <p:sp>
          <p:nvSpPr>
            <p:cNvPr id="173" name="Google Shape;173;p21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0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endParaRPr>
            </a:p>
          </p:txBody>
        </p:sp>
      </p:grpSp>
      <p:cxnSp>
        <p:nvCxnSpPr>
          <p:cNvPr id="174" name="Google Shape;174;p21"/>
          <p:cNvCxnSpPr/>
          <p:nvPr/>
        </p:nvCxnSpPr>
        <p:spPr>
          <a:xfrm rot="10800000">
            <a:off x="1085850" y="7289441"/>
            <a:ext cx="5403" cy="2997456"/>
          </a:xfrm>
          <a:prstGeom prst="straightConnector1">
            <a:avLst/>
          </a:prstGeom>
          <a:noFill/>
          <a:ln cap="flat" cmpd="sng" w="114300">
            <a:solidFill>
              <a:srgbClr val="9FC3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21"/>
          <p:cNvCxnSpPr/>
          <p:nvPr/>
        </p:nvCxnSpPr>
        <p:spPr>
          <a:xfrm rot="10800000">
            <a:off x="1090490" y="-104525"/>
            <a:ext cx="5403" cy="2997456"/>
          </a:xfrm>
          <a:prstGeom prst="straightConnector1">
            <a:avLst/>
          </a:prstGeom>
          <a:noFill/>
          <a:ln cap="flat" cmpd="sng" w="114300">
            <a:solidFill>
              <a:srgbClr val="9FC3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21"/>
          <p:cNvSpPr/>
          <p:nvPr/>
        </p:nvSpPr>
        <p:spPr>
          <a:xfrm>
            <a:off x="9697545" y="8788169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21"/>
          <p:cNvSpPr/>
          <p:nvPr/>
        </p:nvSpPr>
        <p:spPr>
          <a:xfrm>
            <a:off x="1564423" y="-1641171"/>
            <a:ext cx="7315200" cy="2477783"/>
          </a:xfrm>
          <a:custGeom>
            <a:rect b="b" l="l" r="r" t="t"/>
            <a:pathLst>
              <a:path extrusionOk="0"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